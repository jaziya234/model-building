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B2430"/>
                </a:solidFill>
                <a:latin typeface="Arial"/>
              </a:rPr>
              <a:t>Illustrative Target Metrics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(%)</c:v>
                </c:pt>
              </c:strCache>
            </c:strRef>
          </c:tx>
          <c:spPr>
            <a:solidFill>
              <a:srgbClr val="0E959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</c:v>
                </c:pt>
                <c:pt idx="1">
                  <c:v>88</c:v>
                </c:pt>
                <c:pt idx="2">
                  <c:v>82</c:v>
                </c:pt>
                <c:pt idx="3">
                  <c:v>85</c:v>
                </c:pt>
                <c:pt idx="4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FB-4B84-A3E7-0022E3F018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1550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206240"/>
            <a:ext cx="164592" cy="164592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164592" cy="164592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0"/>
            <a:ext cx="164592" cy="164592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5" name="Shape 3"/>
          <p:cNvSpPr/>
          <p:nvPr/>
        </p:nvSpPr>
        <p:spPr>
          <a:xfrm>
            <a:off x="9418320" y="5029200"/>
            <a:ext cx="164592" cy="164592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0" y="5029200"/>
            <a:ext cx="164592" cy="164592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ML  ·  IoT &amp; SENSORS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IoT-based Predictive Maintenance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Industrial Motors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motor failure risk prediction from live sensor telemetry, using a Random Forest classifier trained on the AI4I 2020 Predictive Maintenance dataset.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4462272"/>
            <a:ext cx="548640" cy="548640"/>
          </a:xfrm>
          <a:prstGeom prst="ellipse">
            <a:avLst/>
          </a:prstGeom>
          <a:solidFill>
            <a:srgbClr val="26313F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9" y="4604918"/>
            <a:ext cx="263347" cy="26334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44622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ECE Capstone Project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0876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Machine Learning &amp; Electronics/Communication Engineering</a:t>
            </a:r>
          </a:p>
        </p:txBody>
      </p:sp>
      <p:sp>
        <p:nvSpPr>
          <p:cNvPr id="14" name="Shape 11"/>
          <p:cNvSpPr/>
          <p:nvPr/>
        </p:nvSpPr>
        <p:spPr>
          <a:xfrm>
            <a:off x="822960" y="6035040"/>
            <a:ext cx="10515600" cy="0"/>
          </a:xfrm>
          <a:prstGeom prst="line">
            <a:avLst/>
          </a:prstGeom>
          <a:noFill/>
          <a:ln w="12700">
            <a:solidFill>
              <a:srgbClr val="3A46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5115153"/>
            <a:ext cx="8229600" cy="1070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Jaziya Shaheen K A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Punniya K </a:t>
            </a:r>
            <a:r>
              <a:rPr lang="en-US" sz="1100" dirty="0" err="1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Siju</a:t>
            </a:r>
            <a:endParaRPr lang="en-US" sz="1100" dirty="0">
              <a:solidFill>
                <a:srgbClr val="8B96A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Lab Training Batch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predictive maintenance matters for rotating industrial equipment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0350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373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0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motor failures halt production lines, causing costly downtime and emergency repairs.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0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maintenance is either reactive (fix after failure) or purely time-based (fixed schedules) — both waste resources.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0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machinery emits measurable signals — temperature, torque, rotational speed, tool wear — before failure occurs.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50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an ML model that reads live sensor readings and predicts failure risk in real time, enabling condition-based maintenance.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903720" y="1508760"/>
            <a:ext cx="4617720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/>
        </p:spPr>
      </p:sp>
      <p:sp>
        <p:nvSpPr>
          <p:cNvPr id="8" name="Text 6"/>
          <p:cNvSpPr/>
          <p:nvPr/>
        </p:nvSpPr>
        <p:spPr>
          <a:xfrm>
            <a:off x="7178040" y="1645920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0E9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0" y="1673352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sensor inputs used for prediction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03720" y="3154680"/>
            <a:ext cx="4617720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/>
        </p:spPr>
      </p:sp>
      <p:sp>
        <p:nvSpPr>
          <p:cNvPr id="11" name="Text 9"/>
          <p:cNvSpPr/>
          <p:nvPr/>
        </p:nvSpPr>
        <p:spPr>
          <a:xfrm>
            <a:off x="7178040" y="3291840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0E9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AI4I</a:t>
            </a:r>
            <a:endParaRPr lang="en-US" sz="2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0E9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86800" y="3319272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benchmark dataset (10,000 records)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03720" y="4800600"/>
            <a:ext cx="4617720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4937760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0E9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+</a:t>
            </a:r>
            <a:endParaRPr lang="en-US" sz="2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0E9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686800" y="4965192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flag &amp; calibrated risk probability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sensors → preprocessing → model → live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4F6F8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286000"/>
            <a:ext cx="731520" cy="73152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815" y="24761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00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Input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type, air/process temp, rotational speed, torque, tool wear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86684" y="3291840"/>
            <a:ext cx="256032" cy="256032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0" name="Text 7"/>
          <p:cNvSpPr/>
          <p:nvPr/>
        </p:nvSpPr>
        <p:spPr>
          <a:xfrm>
            <a:off x="3186684" y="324612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74720" y="196596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4F6F8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6260" y="2286000"/>
            <a:ext cx="731520" cy="73152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455" y="247619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3200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57600" y="37947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scaling &amp; encoding of live/historical telemetry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21324" y="3291840"/>
            <a:ext cx="256032" cy="256032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7" name="Text 13"/>
          <p:cNvSpPr/>
          <p:nvPr/>
        </p:nvSpPr>
        <p:spPr>
          <a:xfrm>
            <a:off x="6021324" y="324612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309360" y="196596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4F6F8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200900" y="2286000"/>
            <a:ext cx="731520" cy="73152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095" y="2476195"/>
            <a:ext cx="351130" cy="3511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46520" y="3200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92240" y="37947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classifier estimates failure probability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855964" y="3291840"/>
            <a:ext cx="256032" cy="256032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24" name="Text 19"/>
          <p:cNvSpPr/>
          <p:nvPr/>
        </p:nvSpPr>
        <p:spPr>
          <a:xfrm>
            <a:off x="8855964" y="324612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9144000" y="196596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4F6F8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035540" y="2286000"/>
            <a:ext cx="731520" cy="73152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5735" y="2476195"/>
            <a:ext cx="351130" cy="35113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81160" y="3200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326880" y="37947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Streamlit-style UI shows live risk assessment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40080" y="52578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CFEDEC"/>
          </a:solidFill>
          <a:ln/>
        </p:spPr>
      </p:sp>
      <p:sp>
        <p:nvSpPr>
          <p:cNvPr id="31" name="Shape 25"/>
          <p:cNvSpPr/>
          <p:nvPr/>
        </p:nvSpPr>
        <p:spPr>
          <a:xfrm>
            <a:off x="868680" y="5394960"/>
            <a:ext cx="594360" cy="59436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214" y="5549494"/>
            <a:ext cx="285293" cy="28529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645920" y="53492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the trained model is served behind a live web form (predictive-core.lovable.app) — operators enter current readings and instantly get a failure prediction plus probability score, no code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Feature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AI4I 2020 Predictive Maintenance Dataset — synthetic, physically realistic motor telemetry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CFEDE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19138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556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tier (Low / Medium / High) — encoded categorical feature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55448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783080"/>
            <a:ext cx="502920" cy="502920"/>
          </a:xfrm>
          <a:prstGeom prst="ellipse">
            <a:avLst/>
          </a:prstGeom>
          <a:solidFill>
            <a:srgbClr val="CFEDE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759" y="191383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7556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&amp; Process Temp.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0" y="24231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290–310K / 300–320K — thermal stress indicators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55448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783080"/>
            <a:ext cx="502920" cy="502920"/>
          </a:xfrm>
          <a:prstGeom prst="ellipse">
            <a:avLst/>
          </a:prstGeom>
          <a:solidFill>
            <a:srgbClr val="CFEDE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6079" y="191383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7556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Speed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75320" y="24231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1000–3000 rpm — mechanical load signal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5661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3794760"/>
            <a:ext cx="502920" cy="502920"/>
          </a:xfrm>
          <a:prstGeom prst="ellipse">
            <a:avLst/>
          </a:prstGeom>
          <a:solidFill>
            <a:srgbClr val="CFEDE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39" y="392551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7673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68680" y="44348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0–80 Nm — driving-force / strain measurement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5661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3794760"/>
            <a:ext cx="502920" cy="502920"/>
          </a:xfrm>
          <a:prstGeom prst="ellipse">
            <a:avLst/>
          </a:prstGeom>
          <a:solidFill>
            <a:srgbClr val="CFEDE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2759" y="392551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37673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0" y="44348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0–260 min — cumulative wear/degradation proxy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5661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3794760"/>
            <a:ext cx="502920" cy="502920"/>
          </a:xfrm>
          <a:prstGeom prst="ellipse">
            <a:avLst/>
          </a:prstGeom>
          <a:solidFill>
            <a:srgbClr val="CFEDEC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6079" y="392551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15400" y="37673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75320" y="44348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 normalized; categorical one-hot/label encoded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 Selection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— chosen for tabular sensor data with mixed feature types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232E3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83080"/>
            <a:ext cx="640080" cy="64008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19495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mixed categorical + numerical sensor features without heavy preprocessing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noise and outliers common in live telemetry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reduces overfitting vs. a single tree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both a class label and a calibrated probability — ideal for risk scoring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gives interpretable insight into which sensor drives risk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89320" y="1554480"/>
            <a:ext cx="5532120" cy="4663440"/>
          </a:xfrm>
          <a:prstGeom prst="roundRect">
            <a:avLst>
              <a:gd name="adj" fmla="val 1569"/>
            </a:avLst>
          </a:prstGeom>
          <a:solidFill>
            <a:srgbClr val="232E3F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09360" y="2331720"/>
            <a:ext cx="384048" cy="38404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0" y="23042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0" y="25877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preserving rare failure-class ratio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309360" y="3044952"/>
            <a:ext cx="384048" cy="38404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0" y="301752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0" y="33009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Grid/Random search over n_estimators, max_depth, min_samples_leaf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309360" y="3758184"/>
            <a:ext cx="384048" cy="38404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20" name="Text 17"/>
          <p:cNvSpPr/>
          <p:nvPr/>
        </p:nvSpPr>
        <p:spPr>
          <a:xfrm>
            <a:off x="630936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58000" y="373075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58000" y="40142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to address rare failure events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309360" y="4471416"/>
            <a:ext cx="384048" cy="38404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24" name="Text 21"/>
          <p:cNvSpPr/>
          <p:nvPr/>
        </p:nvSpPr>
        <p:spPr>
          <a:xfrm>
            <a:off x="6309360" y="4471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58000" y="444398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858000" y="47274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CV to validate generalization before deployment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309360" y="5184648"/>
            <a:ext cx="384048" cy="38404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28" name="Text 25"/>
          <p:cNvSpPr/>
          <p:nvPr/>
        </p:nvSpPr>
        <p:spPr>
          <a:xfrm>
            <a:off x="63093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858000" y="515721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Export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858000" y="5440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model integrated into the live prediction API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approach for the failure-prediction classifier (fill in final measured values)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08760"/>
          <a:ext cx="60350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8920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values shown are illustrative placeholders — replace with the actual metrics from your trained model's test set.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903720" y="1508760"/>
            <a:ext cx="46177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13232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(concept)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0" y="214884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CFEDE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0" y="22860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006840" y="214884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F7D9B0"/>
          </a:solidFill>
          <a:ln/>
        </p:spPr>
      </p:sp>
      <p:sp>
        <p:nvSpPr>
          <p:cNvPr id="11" name="Text 8"/>
          <p:cNvSpPr/>
          <p:nvPr/>
        </p:nvSpPr>
        <p:spPr>
          <a:xfrm>
            <a:off x="9006840" y="22860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315200" y="329184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F7D9B0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4290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006840" y="329184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0E9594"/>
          </a:solidFill>
          <a:ln/>
        </p:spPr>
      </p:sp>
      <p:sp>
        <p:nvSpPr>
          <p:cNvPr id="15" name="Text 12"/>
          <p:cNvSpPr/>
          <p:nvPr/>
        </p:nvSpPr>
        <p:spPr>
          <a:xfrm>
            <a:off x="9006840" y="34290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132320" y="4343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minimize False Negatives (missed failures) — a missed failure is costlier than a false alarm.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903720" y="4892040"/>
            <a:ext cx="4617720" cy="1280160"/>
          </a:xfrm>
          <a:prstGeom prst="roundRect">
            <a:avLst>
              <a:gd name="adj" fmla="val 5714"/>
            </a:avLst>
          </a:prstGeom>
          <a:solidFill>
            <a:srgbClr val="1B2430"/>
          </a:solidFill>
          <a:ln/>
        </p:spPr>
      </p:sp>
      <p:sp>
        <p:nvSpPr>
          <p:cNvPr id="18" name="Shape 15"/>
          <p:cNvSpPr/>
          <p:nvPr/>
        </p:nvSpPr>
        <p:spPr>
          <a:xfrm>
            <a:off x="7132320" y="5074920"/>
            <a:ext cx="502920" cy="502920"/>
          </a:xfrm>
          <a:prstGeom prst="ellipse">
            <a:avLst/>
          </a:prstGeom>
          <a:solidFill>
            <a:srgbClr val="2A3646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079" y="5205679"/>
            <a:ext cx="241402" cy="24140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818120" y="502920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report: ROC curve, precision-recall curve, and feature importance ranking to explain which sensors drive risk.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Demo — Live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predictive-core.lovable.app — real-time inference from live sensor input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035040" cy="4663440"/>
          </a:xfrm>
          <a:prstGeom prst="roundRect">
            <a:avLst>
              <a:gd name="adj" fmla="val 1569"/>
            </a:avLst>
          </a:prstGeom>
          <a:solidFill>
            <a:srgbClr val="F4F6F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6035040" cy="365760"/>
          </a:xfrm>
          <a:prstGeom prst="roundRect">
            <a:avLst>
              <a:gd name="adj" fmla="val 20000"/>
            </a:avLst>
          </a:prstGeom>
          <a:solidFill>
            <a:srgbClr val="1B243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73352"/>
            <a:ext cx="128016" cy="128016"/>
          </a:xfrm>
          <a:prstGeom prst="ellipse">
            <a:avLst/>
          </a:prstGeom>
          <a:solidFill>
            <a:srgbClr val="E8746A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1673352"/>
            <a:ext cx="128016" cy="128016"/>
          </a:xfrm>
          <a:prstGeom prst="ellipse">
            <a:avLst/>
          </a:prstGeom>
          <a:solidFill>
            <a:srgbClr val="E8C84A"/>
          </a:solidFill>
          <a:ln/>
        </p:spPr>
      </p:sp>
      <p:sp>
        <p:nvSpPr>
          <p:cNvPr id="8" name="Shape 6"/>
          <p:cNvSpPr/>
          <p:nvPr/>
        </p:nvSpPr>
        <p:spPr>
          <a:xfrm>
            <a:off x="1335024" y="1673352"/>
            <a:ext cx="128016" cy="128016"/>
          </a:xfrm>
          <a:prstGeom prst="ellipse">
            <a:avLst/>
          </a:prstGeom>
          <a:solidFill>
            <a:srgbClr val="6ABF69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6093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predictive-core.lovable.app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Dashboard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514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 — enter current sensor values to estimate failure risk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0120" y="2926080"/>
            <a:ext cx="53949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9260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60120" y="3401568"/>
            <a:ext cx="53949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4015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Temperature (K)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0120" y="3877056"/>
            <a:ext cx="53949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8770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Temperature (K)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0120" y="4352544"/>
            <a:ext cx="53949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3525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Speed (rpm)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0120" y="4828032"/>
            <a:ext cx="53949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828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(Nm)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0120" y="5303520"/>
            <a:ext cx="53949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303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 (min)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0120" y="5824728"/>
            <a:ext cx="5394960" cy="411480"/>
          </a:xfrm>
          <a:prstGeom prst="roundRect">
            <a:avLst>
              <a:gd name="adj" fmla="val 13333"/>
            </a:avLst>
          </a:prstGeom>
          <a:solidFill>
            <a:srgbClr val="0E9594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82472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Failure Risk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03720" y="1554480"/>
            <a:ext cx="4617720" cy="4663440"/>
          </a:xfrm>
          <a:prstGeom prst="roundRect">
            <a:avLst>
              <a:gd name="adj" fmla="val 1584"/>
            </a:avLst>
          </a:prstGeom>
          <a:solidFill>
            <a:srgbClr val="1B2430"/>
          </a:solidFill>
          <a:ln/>
        </p:spPr>
      </p:sp>
      <p:sp>
        <p:nvSpPr>
          <p:cNvPr id="27" name="Text 25"/>
          <p:cNvSpPr/>
          <p:nvPr/>
        </p:nvSpPr>
        <p:spPr>
          <a:xfrm>
            <a:off x="717804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Does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178040" y="2286000"/>
            <a:ext cx="329184" cy="329184"/>
          </a:xfrm>
          <a:prstGeom prst="ellipse">
            <a:avLst/>
          </a:prstGeom>
          <a:solidFill>
            <a:srgbClr val="2A3646"/>
          </a:solidFill>
          <a:ln/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628" y="2371588"/>
            <a:ext cx="158008" cy="15800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635240" y="2240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5 live sensor readings + product quality tier as input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178040" y="3063240"/>
            <a:ext cx="329184" cy="329184"/>
          </a:xfrm>
          <a:prstGeom prst="ellipse">
            <a:avLst/>
          </a:prstGeom>
          <a:solidFill>
            <a:srgbClr val="2A3646"/>
          </a:solidFill>
          <a:ln/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628" y="3148828"/>
            <a:ext cx="158008" cy="15800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635240" y="3017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values into the trained Random Forest model in real time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7178040" y="3840480"/>
            <a:ext cx="329184" cy="329184"/>
          </a:xfrm>
          <a:prstGeom prst="ellipse">
            <a:avLst/>
          </a:prstGeom>
          <a:solidFill>
            <a:srgbClr val="2A3646"/>
          </a:solidFill>
          <a:ln/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628" y="3926068"/>
            <a:ext cx="158008" cy="15800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7635240" y="3794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binary failure prediction (Yes/No)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7178040" y="4617720"/>
            <a:ext cx="329184" cy="329184"/>
          </a:xfrm>
          <a:prstGeom prst="ellipse">
            <a:avLst/>
          </a:prstGeom>
          <a:solidFill>
            <a:srgbClr val="2A3646"/>
          </a:solidFill>
          <a:ln/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628" y="4703308"/>
            <a:ext cx="158008" cy="15800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635240" y="4572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 calibrated failure probability score for risk-based scheduling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7178040" y="5394960"/>
            <a:ext cx="329184" cy="329184"/>
          </a:xfrm>
          <a:prstGeom prst="ellipse">
            <a:avLst/>
          </a:prstGeom>
          <a:solidFill>
            <a:srgbClr val="2A3646"/>
          </a:solidFill>
          <a:ln/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628" y="5480548"/>
            <a:ext cx="158008" cy="15800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635240" y="53492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let operators act before a breakdown occurs — no code needed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 encountered across data, modeling, and deployment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457200" cy="457200"/>
          </a:xfrm>
          <a:prstGeom prst="ellipse">
            <a:avLst/>
          </a:prstGeom>
          <a:solidFill>
            <a:srgbClr val="CFEDE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8562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3317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events are rare in the AI4I dataset, risking a model biased toward predicting 'no failure'. Addressed via class weighting and careful metric choice (recall over raw accuracy).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4343400" y="150876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737360"/>
            <a:ext cx="457200" cy="457200"/>
          </a:xfrm>
          <a:prstGeom prst="ellipse">
            <a:avLst/>
          </a:prstGeom>
          <a:solidFill>
            <a:srgbClr val="CFEDE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8562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3317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Relevance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0" y="265176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raw sensor signals contribute equally; determining which combination of temperature, torque, speed, and wear best predicts failure required iterative feature analysis.</a:t>
            </a:r>
            <a:endParaRPr lang="en-US" sz="97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737360"/>
            <a:ext cx="457200" cy="457200"/>
          </a:xfrm>
          <a:prstGeom prst="ellipse">
            <a:avLst/>
          </a:prstGeom>
          <a:solidFill>
            <a:srgbClr val="CFEDE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18562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3317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Gap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75320" y="265176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AI4I is synthetic-but-realistic; a live dashboard must handle sensor noise and out-of-range values gracefully, unlike a clean offline dataset.</a:t>
            </a:r>
            <a:endParaRPr lang="en-US" sz="97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206240"/>
            <a:ext cx="457200" cy="457200"/>
          </a:xfrm>
          <a:prstGeom prst="ellipse">
            <a:avLst/>
          </a:prstGeom>
          <a:solidFill>
            <a:srgbClr val="CFEDE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432511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8006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68680" y="512064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a trained scikit-learn model behind a responsive live web form (predictive-core.lovable.app) that returns predictions instantly for arbitrary user input.</a:t>
            </a:r>
            <a:endParaRPr lang="en-US" sz="97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206240"/>
            <a:ext cx="457200" cy="457200"/>
          </a:xfrm>
          <a:prstGeom prst="ellipse">
            <a:avLst/>
          </a:prstGeom>
          <a:solidFill>
            <a:srgbClr val="CFEDE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32511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8006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vs. Generalization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72000" y="512064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Random Forest depth/estimators to fit training patterns without memorizing noise, validated via cross-validation.</a:t>
            </a:r>
            <a:endParaRPr lang="en-US" sz="970" dirty="0"/>
          </a:p>
        </p:txBody>
      </p:sp>
      <p:sp>
        <p:nvSpPr>
          <p:cNvPr id="29" name="Shape 22"/>
          <p:cNvSpPr/>
          <p:nvPr/>
        </p:nvSpPr>
        <p:spPr>
          <a:xfrm>
            <a:off x="8046720" y="397764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4206240"/>
            <a:ext cx="457200" cy="457200"/>
          </a:xfrm>
          <a:prstGeom prst="ellipse">
            <a:avLst/>
          </a:prstGeom>
          <a:solidFill>
            <a:srgbClr val="CFEDEC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4192" y="432511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8006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ECE-ML Integration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75320" y="512064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domain knowledge of motor telemetry (ECE) with correct ML preprocessing/evaluation practice — the core ask of this capstone.</a:t>
            </a:r>
            <a:endParaRPr lang="en-US" sz="9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&amp; 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complete, what's documented, and what's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232E3F"/>
          </a:solidFill>
          <a:ln/>
        </p:spPr>
      </p:sp>
      <p:sp>
        <p:nvSpPr>
          <p:cNvPr id="5" name="Shape 3"/>
          <p:cNvSpPr/>
          <p:nvPr/>
        </p:nvSpPr>
        <p:spPr>
          <a:xfrm>
            <a:off x="1623060" y="1828800"/>
            <a:ext cx="640080" cy="64008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48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EDA, feature engineering, RF training &amp; tuning, evaluation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7472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232E3F"/>
          </a:solidFill>
          <a:ln/>
        </p:spPr>
      </p:sp>
      <p:sp>
        <p:nvSpPr>
          <p:cNvPr id="10" name="Shape 7"/>
          <p:cNvSpPr/>
          <p:nvPr/>
        </p:nvSpPr>
        <p:spPr>
          <a:xfrm>
            <a:off x="4457700" y="1828800"/>
            <a:ext cx="640080" cy="64008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121" y="19952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560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39312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 with code, dataset link, professional README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30936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232E3F"/>
          </a:solidFill>
          <a:ln/>
        </p:spPr>
      </p:sp>
      <p:sp>
        <p:nvSpPr>
          <p:cNvPr id="15" name="Shape 11"/>
          <p:cNvSpPr/>
          <p:nvPr/>
        </p:nvSpPr>
        <p:spPr>
          <a:xfrm>
            <a:off x="7292340" y="1828800"/>
            <a:ext cx="640080" cy="64008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761" y="19952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560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73952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— problem, architecture, model, metrics, challenges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14400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232E3F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26980" y="1828800"/>
            <a:ext cx="640080" cy="64008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3401" y="199522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2560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308592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at predictive-core.lovable.app for real-time inference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40080" y="3794760"/>
            <a:ext cx="10881360" cy="2331720"/>
          </a:xfrm>
          <a:prstGeom prst="roundRect">
            <a:avLst>
              <a:gd name="adj" fmla="val 3137"/>
            </a:avLst>
          </a:prstGeom>
          <a:solidFill>
            <a:srgbClr val="232E3F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14400" y="443484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hyperparameter tuning and report final Accuracy / Precision / Recall / F1 / ROC-AUC on held-out test data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feature-importance visualization to the dashboard for interpretability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the live form with edge-case and out-of-range sensor values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GitHub README with setup instructions and dataset download guide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1006</Words>
  <Application>Microsoft Office PowerPoint</Application>
  <PresentationFormat>Widescreen</PresentationFormat>
  <Paragraphs>145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IoT-based Predictive Maintenance for Industrial Motors</dc:title>
  <dc:subject>PptxGenJS Presentation</dc:subject>
  <dc:creator>ML + ECE Capstone Team</dc:creator>
  <cp:lastModifiedBy>Sreelakshmi P S</cp:lastModifiedBy>
  <cp:revision>2</cp:revision>
  <dcterms:created xsi:type="dcterms:W3CDTF">2026-07-01T17:25:17Z</dcterms:created>
  <dcterms:modified xsi:type="dcterms:W3CDTF">2026-07-01T17:38:33Z</dcterms:modified>
</cp:coreProperties>
</file>